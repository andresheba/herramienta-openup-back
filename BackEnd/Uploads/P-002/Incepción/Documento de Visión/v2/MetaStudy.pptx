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aret" charset="1" panose="00000000000000000000"/>
      <p:regular r:id="rId16"/>
    </p:embeddedFont>
    <p:embeddedFont>
      <p:font typeface="Garet Bold" charset="1" panose="00000000000000000000"/>
      <p:regular r:id="rId17"/>
    </p:embeddedFont>
    <p:embeddedFont>
      <p:font typeface="Open Sans 1" charset="1" panose="00000000000000000000"/>
      <p:regular r:id="rId18"/>
    </p:embeddedFont>
    <p:embeddedFont>
      <p:font typeface="Open Sans 2 Bold" charset="1" panose="020B0806030504020204"/>
      <p:regular r:id="rId19"/>
    </p:embeddedFont>
    <p:embeddedFont>
      <p:font typeface="Garet Ultra-Bold" charset="1" panose="00000000000000000000"/>
      <p:regular r:id="rId20"/>
    </p:embeddedFont>
    <p:embeddedFont>
      <p:font typeface="Open Sans 1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7109187"/>
            <a:ext cx="1028700" cy="3177813"/>
            <a:chOff x="0" y="0"/>
            <a:chExt cx="812800" cy="2510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510865"/>
            </a:xfrm>
            <a:custGeom>
              <a:avLst/>
              <a:gdLst/>
              <a:ahLst/>
              <a:cxnLst/>
              <a:rect r="r" b="b" t="t" l="l"/>
              <a:pathLst>
                <a:path h="251086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7109187"/>
            <a:ext cx="11842469" cy="3177813"/>
            <a:chOff x="0" y="0"/>
            <a:chExt cx="9357013" cy="25108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57013" cy="2510865"/>
            </a:xfrm>
            <a:custGeom>
              <a:avLst/>
              <a:gdLst/>
              <a:ahLst/>
              <a:cxnLst/>
              <a:rect r="r" b="b" t="t" l="l"/>
              <a:pathLst>
                <a:path h="2510865" w="9357013">
                  <a:moveTo>
                    <a:pt x="0" y="0"/>
                  </a:moveTo>
                  <a:lnTo>
                    <a:pt x="9357013" y="0"/>
                  </a:lnTo>
                  <a:lnTo>
                    <a:pt x="9357013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57013" cy="2548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0"/>
            <a:ext cx="1028700" cy="10287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09914" y="0"/>
            <a:ext cx="1694792" cy="10287000"/>
            <a:chOff x="0" y="0"/>
            <a:chExt cx="446365" cy="27093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63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32859" y="6487185"/>
            <a:ext cx="4176257" cy="545802"/>
            <a:chOff x="0" y="0"/>
            <a:chExt cx="1099919" cy="1437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9919" cy="143750"/>
            </a:xfrm>
            <a:custGeom>
              <a:avLst/>
              <a:gdLst/>
              <a:ahLst/>
              <a:cxnLst/>
              <a:rect r="r" b="b" t="t" l="l"/>
              <a:pathLst>
                <a:path h="143750" w="1099919">
                  <a:moveTo>
                    <a:pt x="71875" y="0"/>
                  </a:moveTo>
                  <a:lnTo>
                    <a:pt x="1028044" y="0"/>
                  </a:lnTo>
                  <a:cubicBezTo>
                    <a:pt x="1067740" y="0"/>
                    <a:pt x="1099919" y="32180"/>
                    <a:pt x="1099919" y="71875"/>
                  </a:cubicBezTo>
                  <a:lnTo>
                    <a:pt x="1099919" y="71875"/>
                  </a:lnTo>
                  <a:cubicBezTo>
                    <a:pt x="1099919" y="90938"/>
                    <a:pt x="1092347" y="109219"/>
                    <a:pt x="1078868" y="122699"/>
                  </a:cubicBezTo>
                  <a:cubicBezTo>
                    <a:pt x="1065389" y="136178"/>
                    <a:pt x="1047107" y="143750"/>
                    <a:pt x="1028044" y="143750"/>
                  </a:cubicBezTo>
                  <a:lnTo>
                    <a:pt x="71875" y="143750"/>
                  </a:lnTo>
                  <a:cubicBezTo>
                    <a:pt x="52813" y="143750"/>
                    <a:pt x="34531" y="136178"/>
                    <a:pt x="21052" y="122699"/>
                  </a:cubicBezTo>
                  <a:cubicBezTo>
                    <a:pt x="7573" y="109219"/>
                    <a:pt x="0" y="90938"/>
                    <a:pt x="0" y="71875"/>
                  </a:cubicBezTo>
                  <a:lnTo>
                    <a:pt x="0" y="71875"/>
                  </a:lnTo>
                  <a:cubicBezTo>
                    <a:pt x="0" y="52813"/>
                    <a:pt x="7573" y="34531"/>
                    <a:pt x="21052" y="21052"/>
                  </a:cubicBezTo>
                  <a:cubicBezTo>
                    <a:pt x="34531" y="7573"/>
                    <a:pt x="52813" y="0"/>
                    <a:pt x="71875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99919" cy="17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Noviembre 2025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02568" y="307943"/>
            <a:ext cx="1977164" cy="197716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293629" y="8723898"/>
            <a:ext cx="510254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MetaStudy@gmail.com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93629" y="9284104"/>
            <a:ext cx="510254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www.metastudy.com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4423" y="2797722"/>
            <a:ext cx="9229464" cy="186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89"/>
              </a:lnSpc>
            </a:pPr>
            <a:r>
              <a:rPr lang="en-US" sz="125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MetaStudy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4423" y="8698094"/>
            <a:ext cx="488488" cy="488488"/>
          </a:xfrm>
          <a:custGeom>
            <a:avLst/>
            <a:gdLst/>
            <a:ahLst/>
            <a:cxnLst/>
            <a:rect r="r" b="b" t="t" l="l"/>
            <a:pathLst>
              <a:path h="488488" w="488488">
                <a:moveTo>
                  <a:pt x="0" y="0"/>
                </a:moveTo>
                <a:lnTo>
                  <a:pt x="488488" y="0"/>
                </a:lnTo>
                <a:lnTo>
                  <a:pt x="488488" y="488488"/>
                </a:lnTo>
                <a:lnTo>
                  <a:pt x="0" y="4884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4423" y="9258300"/>
            <a:ext cx="488488" cy="488488"/>
          </a:xfrm>
          <a:custGeom>
            <a:avLst/>
            <a:gdLst/>
            <a:ahLst/>
            <a:cxnLst/>
            <a:rect r="r" b="b" t="t" l="l"/>
            <a:pathLst>
              <a:path h="488488" w="488488">
                <a:moveTo>
                  <a:pt x="0" y="0"/>
                </a:moveTo>
                <a:lnTo>
                  <a:pt x="488488" y="0"/>
                </a:lnTo>
                <a:lnTo>
                  <a:pt x="488488" y="488488"/>
                </a:lnTo>
                <a:lnTo>
                  <a:pt x="0" y="488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8484493" y="9014056"/>
            <a:ext cx="2545888" cy="2545888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7975862" y="1028700"/>
            <a:ext cx="11722467" cy="6765205"/>
          </a:xfrm>
          <a:custGeom>
            <a:avLst/>
            <a:gdLst/>
            <a:ahLst/>
            <a:cxnLst/>
            <a:rect r="r" b="b" t="t" l="l"/>
            <a:pathLst>
              <a:path h="6765205" w="11722467">
                <a:moveTo>
                  <a:pt x="0" y="0"/>
                </a:moveTo>
                <a:lnTo>
                  <a:pt x="11722467" y="0"/>
                </a:lnTo>
                <a:lnTo>
                  <a:pt x="11722467" y="6765205"/>
                </a:lnTo>
                <a:lnTo>
                  <a:pt x="0" y="67652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88" r="0" b="-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99302" y="-103452"/>
            <a:ext cx="9316408" cy="10287000"/>
            <a:chOff x="0" y="0"/>
            <a:chExt cx="2453704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53704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53704">
                  <a:moveTo>
                    <a:pt x="0" y="0"/>
                  </a:moveTo>
                  <a:lnTo>
                    <a:pt x="2453704" y="0"/>
                  </a:lnTo>
                  <a:lnTo>
                    <a:pt x="24537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>
                <a:alpha val="9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5370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89396" y="8531955"/>
            <a:ext cx="18377396" cy="18377396"/>
          </a:xfrm>
          <a:custGeom>
            <a:avLst/>
            <a:gdLst/>
            <a:ahLst/>
            <a:cxnLst/>
            <a:rect r="r" b="b" t="t" l="l"/>
            <a:pathLst>
              <a:path h="18377396" w="18377396">
                <a:moveTo>
                  <a:pt x="0" y="0"/>
                </a:moveTo>
                <a:lnTo>
                  <a:pt x="18377396" y="0"/>
                </a:lnTo>
                <a:lnTo>
                  <a:pt x="18377396" y="18377396"/>
                </a:lnTo>
                <a:lnTo>
                  <a:pt x="0" y="183773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646045"/>
            <a:ext cx="7697645" cy="481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24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El sistema educativo actual enfrenta dificultades en el acceso a apoyo académico personalizado. Muchos estudiantes no logran encontrar tutores de confianza, tienen horarios poco flexibles o enfrentan altos costos. Los alumnos con buen desempeño no tienen plataformas accesibles para compartir sus conocimientos y obtener ingresos.</a:t>
            </a:r>
          </a:p>
          <a:p>
            <a:pPr algn="just" marL="0" indent="0" lvl="0">
              <a:lnSpc>
                <a:spcPts val="48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371891" y="7356528"/>
            <a:ext cx="2350854" cy="235085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696436" y="1417940"/>
            <a:ext cx="5534220" cy="67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1"/>
              </a:lnSpc>
            </a:pPr>
            <a:r>
              <a:rPr lang="en-US" b="true" sz="400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SOLUCION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5742112" y="9014056"/>
            <a:ext cx="2545888" cy="254588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230656" y="-1369287"/>
            <a:ext cx="3277467" cy="327746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19923" y="2097359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5"/>
                </a:lnTo>
                <a:lnTo>
                  <a:pt x="0" y="1596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44156" y="1417940"/>
            <a:ext cx="7066734" cy="67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1"/>
              </a:lnSpc>
            </a:pPr>
            <a:r>
              <a:rPr lang="en-US" b="true" sz="400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PROBLEMA QUE RESUELVE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08683" y="2542593"/>
            <a:ext cx="7697645" cy="176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00"/>
              </a:lnSpc>
            </a:pPr>
            <a:r>
              <a:rPr lang="en-US" sz="24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La plataforma conecta de forma segura a estudiantes y tutores de todos los niveles mediante una interfaz moderna, flexible y fácil de usar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082730" y="5443291"/>
            <a:ext cx="5936575" cy="593657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002938" y="7893563"/>
            <a:ext cx="1276783" cy="1276783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3951" y="6954065"/>
            <a:ext cx="5421286" cy="2799389"/>
            <a:chOff x="0" y="0"/>
            <a:chExt cx="1427828" cy="7372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7828" cy="737288"/>
            </a:xfrm>
            <a:custGeom>
              <a:avLst/>
              <a:gdLst/>
              <a:ahLst/>
              <a:cxnLst/>
              <a:rect r="r" b="b" t="t" l="l"/>
              <a:pathLst>
                <a:path h="737288" w="1427828">
                  <a:moveTo>
                    <a:pt x="72831" y="0"/>
                  </a:moveTo>
                  <a:lnTo>
                    <a:pt x="1354997" y="0"/>
                  </a:lnTo>
                  <a:cubicBezTo>
                    <a:pt x="1374313" y="0"/>
                    <a:pt x="1392838" y="7673"/>
                    <a:pt x="1406497" y="21332"/>
                  </a:cubicBezTo>
                  <a:cubicBezTo>
                    <a:pt x="1420155" y="34990"/>
                    <a:pt x="1427828" y="53515"/>
                    <a:pt x="1427828" y="72831"/>
                  </a:cubicBezTo>
                  <a:lnTo>
                    <a:pt x="1427828" y="664457"/>
                  </a:lnTo>
                  <a:cubicBezTo>
                    <a:pt x="1427828" y="704680"/>
                    <a:pt x="1395221" y="737288"/>
                    <a:pt x="1354997" y="737288"/>
                  </a:cubicBezTo>
                  <a:lnTo>
                    <a:pt x="72831" y="737288"/>
                  </a:lnTo>
                  <a:cubicBezTo>
                    <a:pt x="32608" y="737288"/>
                    <a:pt x="0" y="704680"/>
                    <a:pt x="0" y="664457"/>
                  </a:cubicBezTo>
                  <a:lnTo>
                    <a:pt x="0" y="72831"/>
                  </a:lnTo>
                  <a:cubicBezTo>
                    <a:pt x="0" y="32608"/>
                    <a:pt x="32608" y="0"/>
                    <a:pt x="72831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27828" cy="775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9853" y="3187935"/>
            <a:ext cx="5089482" cy="6417970"/>
            <a:chOff x="0" y="0"/>
            <a:chExt cx="1340440" cy="16903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0440" cy="1690329"/>
            </a:xfrm>
            <a:custGeom>
              <a:avLst/>
              <a:gdLst/>
              <a:ahLst/>
              <a:cxnLst/>
              <a:rect r="r" b="b" t="t" l="l"/>
              <a:pathLst>
                <a:path h="1690329" w="1340440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40440" cy="1728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58848" y="2082188"/>
            <a:ext cx="2211493" cy="221149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34302" y="6954065"/>
            <a:ext cx="5421286" cy="2799389"/>
            <a:chOff x="0" y="0"/>
            <a:chExt cx="1427828" cy="737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27828" cy="737288"/>
            </a:xfrm>
            <a:custGeom>
              <a:avLst/>
              <a:gdLst/>
              <a:ahLst/>
              <a:cxnLst/>
              <a:rect r="r" b="b" t="t" l="l"/>
              <a:pathLst>
                <a:path h="737288" w="1427828">
                  <a:moveTo>
                    <a:pt x="72831" y="0"/>
                  </a:moveTo>
                  <a:lnTo>
                    <a:pt x="1354997" y="0"/>
                  </a:lnTo>
                  <a:cubicBezTo>
                    <a:pt x="1374313" y="0"/>
                    <a:pt x="1392838" y="7673"/>
                    <a:pt x="1406497" y="21332"/>
                  </a:cubicBezTo>
                  <a:cubicBezTo>
                    <a:pt x="1420155" y="34990"/>
                    <a:pt x="1427828" y="53515"/>
                    <a:pt x="1427828" y="72831"/>
                  </a:cubicBezTo>
                  <a:lnTo>
                    <a:pt x="1427828" y="664457"/>
                  </a:lnTo>
                  <a:cubicBezTo>
                    <a:pt x="1427828" y="704680"/>
                    <a:pt x="1395221" y="737288"/>
                    <a:pt x="1354997" y="737288"/>
                  </a:cubicBezTo>
                  <a:lnTo>
                    <a:pt x="72831" y="737288"/>
                  </a:lnTo>
                  <a:cubicBezTo>
                    <a:pt x="32608" y="737288"/>
                    <a:pt x="0" y="704680"/>
                    <a:pt x="0" y="664457"/>
                  </a:cubicBezTo>
                  <a:lnTo>
                    <a:pt x="0" y="72831"/>
                  </a:lnTo>
                  <a:cubicBezTo>
                    <a:pt x="0" y="32608"/>
                    <a:pt x="32608" y="0"/>
                    <a:pt x="72831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27828" cy="775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00203" y="3187935"/>
            <a:ext cx="5089482" cy="6417970"/>
            <a:chOff x="0" y="0"/>
            <a:chExt cx="1340440" cy="16903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0440" cy="1690329"/>
            </a:xfrm>
            <a:custGeom>
              <a:avLst/>
              <a:gdLst/>
              <a:ahLst/>
              <a:cxnLst/>
              <a:rect r="r" b="b" t="t" l="l"/>
              <a:pathLst>
                <a:path h="1690329" w="1340440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40440" cy="1728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39198" y="2082188"/>
            <a:ext cx="2211493" cy="221149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12763" y="6954065"/>
            <a:ext cx="5421286" cy="2799389"/>
            <a:chOff x="0" y="0"/>
            <a:chExt cx="1427828" cy="737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27828" cy="737288"/>
            </a:xfrm>
            <a:custGeom>
              <a:avLst/>
              <a:gdLst/>
              <a:ahLst/>
              <a:cxnLst/>
              <a:rect r="r" b="b" t="t" l="l"/>
              <a:pathLst>
                <a:path h="737288" w="1427828">
                  <a:moveTo>
                    <a:pt x="72831" y="0"/>
                  </a:moveTo>
                  <a:lnTo>
                    <a:pt x="1354997" y="0"/>
                  </a:lnTo>
                  <a:cubicBezTo>
                    <a:pt x="1374313" y="0"/>
                    <a:pt x="1392838" y="7673"/>
                    <a:pt x="1406497" y="21332"/>
                  </a:cubicBezTo>
                  <a:cubicBezTo>
                    <a:pt x="1420155" y="34990"/>
                    <a:pt x="1427828" y="53515"/>
                    <a:pt x="1427828" y="72831"/>
                  </a:cubicBezTo>
                  <a:lnTo>
                    <a:pt x="1427828" y="664457"/>
                  </a:lnTo>
                  <a:cubicBezTo>
                    <a:pt x="1427828" y="704680"/>
                    <a:pt x="1395221" y="737288"/>
                    <a:pt x="1354997" y="737288"/>
                  </a:cubicBezTo>
                  <a:lnTo>
                    <a:pt x="72831" y="737288"/>
                  </a:lnTo>
                  <a:cubicBezTo>
                    <a:pt x="32608" y="737288"/>
                    <a:pt x="0" y="704680"/>
                    <a:pt x="0" y="664457"/>
                  </a:cubicBezTo>
                  <a:lnTo>
                    <a:pt x="0" y="72831"/>
                  </a:lnTo>
                  <a:cubicBezTo>
                    <a:pt x="0" y="32608"/>
                    <a:pt x="32608" y="0"/>
                    <a:pt x="72831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27828" cy="775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78664" y="3187935"/>
            <a:ext cx="5089482" cy="6417970"/>
            <a:chOff x="0" y="0"/>
            <a:chExt cx="1340440" cy="16903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0440" cy="1690329"/>
            </a:xfrm>
            <a:custGeom>
              <a:avLst/>
              <a:gdLst/>
              <a:ahLst/>
              <a:cxnLst/>
              <a:rect r="r" b="b" t="t" l="l"/>
              <a:pathLst>
                <a:path h="1690329" w="1340440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40440" cy="1728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717659" y="2082188"/>
            <a:ext cx="2211493" cy="221149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0" y="0"/>
            <a:ext cx="17368147" cy="1543194"/>
            <a:chOff x="0" y="0"/>
            <a:chExt cx="4574327" cy="4064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74327" cy="406438"/>
            </a:xfrm>
            <a:custGeom>
              <a:avLst/>
              <a:gdLst/>
              <a:ahLst/>
              <a:cxnLst/>
              <a:rect r="r" b="b" t="t" l="l"/>
              <a:pathLst>
                <a:path h="406438" w="4574327">
                  <a:moveTo>
                    <a:pt x="0" y="0"/>
                  </a:moveTo>
                  <a:lnTo>
                    <a:pt x="4574327" y="0"/>
                  </a:lnTo>
                  <a:lnTo>
                    <a:pt x="4574327" y="406438"/>
                  </a:lnTo>
                  <a:lnTo>
                    <a:pt x="0" y="40643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574327" cy="444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2783603" y="2688954"/>
            <a:ext cx="1361983" cy="997962"/>
          </a:xfrm>
          <a:custGeom>
            <a:avLst/>
            <a:gdLst/>
            <a:ahLst/>
            <a:cxnLst/>
            <a:rect r="r" b="b" t="t" l="l"/>
            <a:pathLst>
              <a:path h="997962" w="1361983">
                <a:moveTo>
                  <a:pt x="0" y="0"/>
                </a:moveTo>
                <a:lnTo>
                  <a:pt x="1361983" y="0"/>
                </a:lnTo>
                <a:lnTo>
                  <a:pt x="1361983" y="997962"/>
                </a:lnTo>
                <a:lnTo>
                  <a:pt x="0" y="997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4147136" y="2837693"/>
            <a:ext cx="1400966" cy="700483"/>
          </a:xfrm>
          <a:custGeom>
            <a:avLst/>
            <a:gdLst/>
            <a:ahLst/>
            <a:cxnLst/>
            <a:rect r="r" b="b" t="t" l="l"/>
            <a:pathLst>
              <a:path h="700483" w="1400966">
                <a:moveTo>
                  <a:pt x="0" y="0"/>
                </a:moveTo>
                <a:lnTo>
                  <a:pt x="1400965" y="0"/>
                </a:lnTo>
                <a:lnTo>
                  <a:pt x="1400965" y="700483"/>
                </a:lnTo>
                <a:lnTo>
                  <a:pt x="0" y="700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8612186" y="2545224"/>
            <a:ext cx="1063628" cy="1251327"/>
          </a:xfrm>
          <a:custGeom>
            <a:avLst/>
            <a:gdLst/>
            <a:ahLst/>
            <a:cxnLst/>
            <a:rect r="r" b="b" t="t" l="l"/>
            <a:pathLst>
              <a:path h="1251327" w="1063628">
                <a:moveTo>
                  <a:pt x="0" y="0"/>
                </a:moveTo>
                <a:lnTo>
                  <a:pt x="1063628" y="0"/>
                </a:lnTo>
                <a:lnTo>
                  <a:pt x="1063628" y="1251328"/>
                </a:lnTo>
                <a:lnTo>
                  <a:pt x="0" y="125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919853" y="296934"/>
            <a:ext cx="10769833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DESCRIPCION DEL SERVICIO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8378" y="4463302"/>
            <a:ext cx="4112433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Plataforma Digital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087784" y="4463302"/>
            <a:ext cx="4112433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Funcionalidades Clave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67189" y="4463302"/>
            <a:ext cx="411243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Alcance Académico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08378" y="5554980"/>
            <a:ext cx="4112433" cy="2303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20"/>
              </a:lnSpc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Servicio web y móvil que permite a los usuarios registrarse como estudiantes o tutores.</a:t>
            </a:r>
          </a:p>
          <a:p>
            <a:pPr algn="just" marL="0" indent="0" lvl="0">
              <a:lnSpc>
                <a:spcPts val="3720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7087784" y="5554980"/>
            <a:ext cx="4112433" cy="2303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Videollamadas integradas.</a:t>
            </a:r>
          </a:p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Agenda de sesiones</a:t>
            </a:r>
          </a:p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Materiales descargables</a:t>
            </a:r>
          </a:p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Pagos seguros en linea.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767189" y="5554980"/>
            <a:ext cx="4112433" cy="3236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20"/>
              </a:lnSpc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Clases personalizadas en cualquier área académica desde primaria hasta nivel profesional, impartidas por expertos y alumnos destacados.</a:t>
            </a:r>
          </a:p>
          <a:p>
            <a:pPr algn="just" marL="0" indent="0" lvl="0">
              <a:lnSpc>
                <a:spcPts val="3720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4516197" y="536647"/>
            <a:ext cx="274310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MetaStudy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3583517" y="378154"/>
            <a:ext cx="1127238" cy="650546"/>
          </a:xfrm>
          <a:custGeom>
            <a:avLst/>
            <a:gdLst/>
            <a:ahLst/>
            <a:cxnLst/>
            <a:rect r="r" b="b" t="t" l="l"/>
            <a:pathLst>
              <a:path h="650546" w="1127238">
                <a:moveTo>
                  <a:pt x="0" y="0"/>
                </a:moveTo>
                <a:lnTo>
                  <a:pt x="1127238" y="0"/>
                </a:lnTo>
                <a:lnTo>
                  <a:pt x="1127238" y="650546"/>
                </a:lnTo>
                <a:lnTo>
                  <a:pt x="0" y="6505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435350" cy="10287000"/>
            <a:chOff x="0" y="0"/>
            <a:chExt cx="222165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165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21656">
                  <a:moveTo>
                    <a:pt x="0" y="0"/>
                  </a:moveTo>
                  <a:lnTo>
                    <a:pt x="2221656" y="0"/>
                  </a:lnTo>
                  <a:lnTo>
                    <a:pt x="22216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2165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916626" y="2250144"/>
            <a:ext cx="1310100" cy="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875948" y="0"/>
            <a:ext cx="8944562" cy="11145871"/>
          </a:xfrm>
          <a:custGeom>
            <a:avLst/>
            <a:gdLst/>
            <a:ahLst/>
            <a:cxnLst/>
            <a:rect r="r" b="b" t="t" l="l"/>
            <a:pathLst>
              <a:path h="11145871" w="8944562">
                <a:moveTo>
                  <a:pt x="0" y="0"/>
                </a:moveTo>
                <a:lnTo>
                  <a:pt x="8944562" y="0"/>
                </a:lnTo>
                <a:lnTo>
                  <a:pt x="8944562" y="11145871"/>
                </a:lnTo>
                <a:lnTo>
                  <a:pt x="0" y="11145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8756" y="923925"/>
            <a:ext cx="6637838" cy="10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9"/>
              </a:lnSpc>
            </a:pPr>
            <a:r>
              <a:rPr lang="en-US" b="true" sz="5899" spc="11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DIFERENCIADOR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6626" y="3898900"/>
            <a:ext cx="6300270" cy="240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74"/>
              </a:lnSpc>
            </a:pPr>
            <a:r>
              <a:rPr lang="en-US" sz="24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 diferencia de otras plataformas, permite que los propios estudiantes se conviertan en tutores, promoviendo el aprendizaje colaborativo y el desarrollo de habilidades pedagógicas.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63" y="9023350"/>
            <a:ext cx="274310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MetaStudy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8756" y="3128960"/>
            <a:ext cx="5993767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Estudiantes como Tutores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65443" y="8916517"/>
            <a:ext cx="1127238" cy="650546"/>
          </a:xfrm>
          <a:custGeom>
            <a:avLst/>
            <a:gdLst/>
            <a:ahLst/>
            <a:cxnLst/>
            <a:rect r="r" b="b" t="t" l="l"/>
            <a:pathLst>
              <a:path h="650546" w="1127238">
                <a:moveTo>
                  <a:pt x="0" y="0"/>
                </a:moveTo>
                <a:lnTo>
                  <a:pt x="1127239" y="0"/>
                </a:lnTo>
                <a:lnTo>
                  <a:pt x="1127239" y="650546"/>
                </a:lnTo>
                <a:lnTo>
                  <a:pt x="0" y="650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8572" y="-3621334"/>
            <a:ext cx="6460278" cy="646027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6534650" cy="10287000"/>
            <a:chOff x="0" y="0"/>
            <a:chExt cx="1721060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106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21060">
                  <a:moveTo>
                    <a:pt x="0" y="0"/>
                  </a:moveTo>
                  <a:lnTo>
                    <a:pt x="1721060" y="0"/>
                  </a:lnTo>
                  <a:lnTo>
                    <a:pt x="172106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2106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554723" y="4960500"/>
            <a:ext cx="1310100" cy="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6230656" y="-1369287"/>
            <a:ext cx="3277467" cy="327746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981583" y="2335904"/>
            <a:ext cx="1511602" cy="1807351"/>
          </a:xfrm>
          <a:custGeom>
            <a:avLst/>
            <a:gdLst/>
            <a:ahLst/>
            <a:cxnLst/>
            <a:rect r="r" b="b" t="t" l="l"/>
            <a:pathLst>
              <a:path h="1807351" w="1511602">
                <a:moveTo>
                  <a:pt x="0" y="0"/>
                </a:moveTo>
                <a:lnTo>
                  <a:pt x="1511602" y="0"/>
                </a:lnTo>
                <a:lnTo>
                  <a:pt x="1511602" y="1807351"/>
                </a:lnTo>
                <a:lnTo>
                  <a:pt x="0" y="18073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772941" y="2453421"/>
            <a:ext cx="2528581" cy="1572318"/>
          </a:xfrm>
          <a:custGeom>
            <a:avLst/>
            <a:gdLst/>
            <a:ahLst/>
            <a:cxnLst/>
            <a:rect r="r" b="b" t="t" l="l"/>
            <a:pathLst>
              <a:path h="1572318" w="2528581">
                <a:moveTo>
                  <a:pt x="0" y="0"/>
                </a:moveTo>
                <a:lnTo>
                  <a:pt x="2528581" y="0"/>
                </a:lnTo>
                <a:lnTo>
                  <a:pt x="2528581" y="1572317"/>
                </a:lnTo>
                <a:lnTo>
                  <a:pt x="0" y="1572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44478" y="2436056"/>
            <a:ext cx="4952073" cy="2192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b="true" sz="6299" spc="12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MERCADO POTENCIAL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15316" y="4533462"/>
            <a:ext cx="4568944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STATISTIC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8963" y="9023350"/>
            <a:ext cx="274310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MetaStudy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91065" y="3981330"/>
            <a:ext cx="2492639" cy="146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9"/>
              </a:lnSpc>
            </a:pPr>
            <a:r>
              <a:rPr lang="en-US" b="true" sz="8599" spc="1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34M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90912" y="3981330"/>
            <a:ext cx="2492639" cy="146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9"/>
              </a:lnSpc>
            </a:pPr>
            <a:r>
              <a:rPr lang="en-US" b="true" sz="8599" spc="1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5%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40124" y="5391632"/>
            <a:ext cx="4444136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Estudiantes Activos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42707" y="6513195"/>
            <a:ext cx="4341553" cy="1727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Dato SEP: Existen más de 34 millones de estudiantes activos en México.</a:t>
            </a:r>
          </a:p>
          <a:p>
            <a:pPr algn="just" marL="0" indent="0" lvl="0">
              <a:lnSpc>
                <a:spcPts val="350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554723" y="5535777"/>
            <a:ext cx="5452626" cy="155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</a:pPr>
            <a:r>
              <a:rPr lang="en-US" sz="24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El mercado potencial incluye a la población estudiantil mexicana de todos los niveles educativos.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66455" y="5391632"/>
            <a:ext cx="4444136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Penetración Estimada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17747" y="6513195"/>
            <a:ext cx="4341553" cy="2165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Si al menos un 5% de esta población utiliza servicios de tutoría digital, el mercado alcanzaría alrededor de 1.7 millones de usuarios potenciales.</a:t>
            </a:r>
          </a:p>
          <a:p>
            <a:pPr algn="just" marL="0" indent="0" lvl="0">
              <a:lnSpc>
                <a:spcPts val="3500"/>
              </a:lnSpc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737584" y="8916517"/>
            <a:ext cx="1127238" cy="650546"/>
          </a:xfrm>
          <a:custGeom>
            <a:avLst/>
            <a:gdLst/>
            <a:ahLst/>
            <a:cxnLst/>
            <a:rect r="r" b="b" t="t" l="l"/>
            <a:pathLst>
              <a:path h="650546" w="1127238">
                <a:moveTo>
                  <a:pt x="0" y="0"/>
                </a:moveTo>
                <a:lnTo>
                  <a:pt x="1127238" y="0"/>
                </a:lnTo>
                <a:lnTo>
                  <a:pt x="1127238" y="650546"/>
                </a:lnTo>
                <a:lnTo>
                  <a:pt x="0" y="650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416679" cy="10287000"/>
            <a:chOff x="0" y="0"/>
            <a:chExt cx="168998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998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89989">
                  <a:moveTo>
                    <a:pt x="0" y="0"/>
                  </a:moveTo>
                  <a:lnTo>
                    <a:pt x="1689989" y="0"/>
                  </a:lnTo>
                  <a:lnTo>
                    <a:pt x="16899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8998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54723" y="6417105"/>
            <a:ext cx="1310100" cy="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085096" y="462435"/>
            <a:ext cx="2776380" cy="2776380"/>
            <a:chOff x="0" y="0"/>
            <a:chExt cx="14840029" cy="148400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-24665" t="0" r="-2466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26637" y="462435"/>
            <a:ext cx="5473113" cy="669452"/>
            <a:chOff x="0" y="0"/>
            <a:chExt cx="3481912" cy="4258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81911" cy="425895"/>
            </a:xfrm>
            <a:custGeom>
              <a:avLst/>
              <a:gdLst/>
              <a:ahLst/>
              <a:cxnLst/>
              <a:rect r="r" b="b" t="t" l="l"/>
              <a:pathLst>
                <a:path h="425895" w="3481911">
                  <a:moveTo>
                    <a:pt x="3278711" y="0"/>
                  </a:moveTo>
                  <a:cubicBezTo>
                    <a:pt x="3390936" y="0"/>
                    <a:pt x="3481911" y="95340"/>
                    <a:pt x="3481911" y="212948"/>
                  </a:cubicBezTo>
                  <a:cubicBezTo>
                    <a:pt x="3481911" y="330556"/>
                    <a:pt x="3390936" y="425895"/>
                    <a:pt x="327871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481912" cy="463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Publico Principal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26637" y="1284760"/>
            <a:ext cx="7474654" cy="1954055"/>
            <a:chOff x="0" y="0"/>
            <a:chExt cx="1968633" cy="5146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68633" cy="514648"/>
            </a:xfrm>
            <a:custGeom>
              <a:avLst/>
              <a:gdLst/>
              <a:ahLst/>
              <a:cxnLst/>
              <a:rect r="r" b="b" t="t" l="l"/>
              <a:pathLst>
                <a:path h="514648" w="1968633">
                  <a:moveTo>
                    <a:pt x="52824" y="0"/>
                  </a:moveTo>
                  <a:lnTo>
                    <a:pt x="1915809" y="0"/>
                  </a:lnTo>
                  <a:cubicBezTo>
                    <a:pt x="1929819" y="0"/>
                    <a:pt x="1943255" y="5565"/>
                    <a:pt x="1953161" y="15472"/>
                  </a:cubicBezTo>
                  <a:cubicBezTo>
                    <a:pt x="1963068" y="25378"/>
                    <a:pt x="1968633" y="38814"/>
                    <a:pt x="1968633" y="52824"/>
                  </a:cubicBezTo>
                  <a:lnTo>
                    <a:pt x="1968633" y="461825"/>
                  </a:lnTo>
                  <a:cubicBezTo>
                    <a:pt x="1968633" y="490998"/>
                    <a:pt x="1944983" y="514648"/>
                    <a:pt x="1915809" y="514648"/>
                  </a:cubicBezTo>
                  <a:lnTo>
                    <a:pt x="52824" y="514648"/>
                  </a:lnTo>
                  <a:cubicBezTo>
                    <a:pt x="38814" y="514648"/>
                    <a:pt x="25378" y="509083"/>
                    <a:pt x="15472" y="499176"/>
                  </a:cubicBezTo>
                  <a:cubicBezTo>
                    <a:pt x="5565" y="489270"/>
                    <a:pt x="0" y="475834"/>
                    <a:pt x="0" y="461825"/>
                  </a:cubicBezTo>
                  <a:lnTo>
                    <a:pt x="0" y="52824"/>
                  </a:lnTo>
                  <a:cubicBezTo>
                    <a:pt x="0" y="38814"/>
                    <a:pt x="5565" y="25378"/>
                    <a:pt x="15472" y="15472"/>
                  </a:cubicBezTo>
                  <a:cubicBezTo>
                    <a:pt x="25378" y="5565"/>
                    <a:pt x="38814" y="0"/>
                    <a:pt x="52824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68633" cy="55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7085096" y="3593101"/>
            <a:ext cx="2776380" cy="2776380"/>
            <a:chOff x="0" y="0"/>
            <a:chExt cx="14840029" cy="148400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3"/>
              <a:stretch>
                <a:fillRect l="-37136" t="0" r="-37136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26637" y="3593101"/>
            <a:ext cx="5473113" cy="669452"/>
            <a:chOff x="0" y="0"/>
            <a:chExt cx="3481912" cy="4258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81911" cy="425895"/>
            </a:xfrm>
            <a:custGeom>
              <a:avLst/>
              <a:gdLst/>
              <a:ahLst/>
              <a:cxnLst/>
              <a:rect r="r" b="b" t="t" l="l"/>
              <a:pathLst>
                <a:path h="425895" w="3481911">
                  <a:moveTo>
                    <a:pt x="3278711" y="0"/>
                  </a:moveTo>
                  <a:cubicBezTo>
                    <a:pt x="3390936" y="0"/>
                    <a:pt x="3481911" y="95340"/>
                    <a:pt x="3481911" y="212948"/>
                  </a:cubicBezTo>
                  <a:cubicBezTo>
                    <a:pt x="3481911" y="330556"/>
                    <a:pt x="3390936" y="425895"/>
                    <a:pt x="327871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481912" cy="463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Publico Secundario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26637" y="4415426"/>
            <a:ext cx="7474654" cy="1954055"/>
            <a:chOff x="0" y="0"/>
            <a:chExt cx="1968633" cy="5146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68633" cy="514648"/>
            </a:xfrm>
            <a:custGeom>
              <a:avLst/>
              <a:gdLst/>
              <a:ahLst/>
              <a:cxnLst/>
              <a:rect r="r" b="b" t="t" l="l"/>
              <a:pathLst>
                <a:path h="514648" w="1968633">
                  <a:moveTo>
                    <a:pt x="52824" y="0"/>
                  </a:moveTo>
                  <a:lnTo>
                    <a:pt x="1915809" y="0"/>
                  </a:lnTo>
                  <a:cubicBezTo>
                    <a:pt x="1929819" y="0"/>
                    <a:pt x="1943255" y="5565"/>
                    <a:pt x="1953161" y="15472"/>
                  </a:cubicBezTo>
                  <a:cubicBezTo>
                    <a:pt x="1963068" y="25378"/>
                    <a:pt x="1968633" y="38814"/>
                    <a:pt x="1968633" y="52824"/>
                  </a:cubicBezTo>
                  <a:lnTo>
                    <a:pt x="1968633" y="461825"/>
                  </a:lnTo>
                  <a:cubicBezTo>
                    <a:pt x="1968633" y="490998"/>
                    <a:pt x="1944983" y="514648"/>
                    <a:pt x="1915809" y="514648"/>
                  </a:cubicBezTo>
                  <a:lnTo>
                    <a:pt x="52824" y="514648"/>
                  </a:lnTo>
                  <a:cubicBezTo>
                    <a:pt x="38814" y="514648"/>
                    <a:pt x="25378" y="509083"/>
                    <a:pt x="15472" y="499176"/>
                  </a:cubicBezTo>
                  <a:cubicBezTo>
                    <a:pt x="5565" y="489270"/>
                    <a:pt x="0" y="475834"/>
                    <a:pt x="0" y="461825"/>
                  </a:cubicBezTo>
                  <a:lnTo>
                    <a:pt x="0" y="52824"/>
                  </a:lnTo>
                  <a:cubicBezTo>
                    <a:pt x="0" y="38814"/>
                    <a:pt x="5565" y="25378"/>
                    <a:pt x="15472" y="15472"/>
                  </a:cubicBezTo>
                  <a:cubicBezTo>
                    <a:pt x="25378" y="5565"/>
                    <a:pt x="38814" y="0"/>
                    <a:pt x="52824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968633" cy="55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7085096" y="6723766"/>
            <a:ext cx="2776380" cy="2776380"/>
            <a:chOff x="0" y="0"/>
            <a:chExt cx="14840029" cy="148400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-16454" t="0" r="-16454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026637" y="6723766"/>
            <a:ext cx="5473113" cy="669452"/>
            <a:chOff x="0" y="0"/>
            <a:chExt cx="3481912" cy="42589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81911" cy="425895"/>
            </a:xfrm>
            <a:custGeom>
              <a:avLst/>
              <a:gdLst/>
              <a:ahLst/>
              <a:cxnLst/>
              <a:rect r="r" b="b" t="t" l="l"/>
              <a:pathLst>
                <a:path h="425895" w="3481911">
                  <a:moveTo>
                    <a:pt x="3278711" y="0"/>
                  </a:moveTo>
                  <a:cubicBezTo>
                    <a:pt x="3390936" y="0"/>
                    <a:pt x="3481911" y="95340"/>
                    <a:pt x="3481911" y="212948"/>
                  </a:cubicBezTo>
                  <a:cubicBezTo>
                    <a:pt x="3481911" y="330556"/>
                    <a:pt x="3390936" y="425895"/>
                    <a:pt x="327871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481912" cy="463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Características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026637" y="7546091"/>
            <a:ext cx="7474654" cy="1954055"/>
            <a:chOff x="0" y="0"/>
            <a:chExt cx="1968633" cy="5146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68633" cy="514648"/>
            </a:xfrm>
            <a:custGeom>
              <a:avLst/>
              <a:gdLst/>
              <a:ahLst/>
              <a:cxnLst/>
              <a:rect r="r" b="b" t="t" l="l"/>
              <a:pathLst>
                <a:path h="514648" w="1968633">
                  <a:moveTo>
                    <a:pt x="52824" y="0"/>
                  </a:moveTo>
                  <a:lnTo>
                    <a:pt x="1915809" y="0"/>
                  </a:lnTo>
                  <a:cubicBezTo>
                    <a:pt x="1929819" y="0"/>
                    <a:pt x="1943255" y="5565"/>
                    <a:pt x="1953161" y="15472"/>
                  </a:cubicBezTo>
                  <a:cubicBezTo>
                    <a:pt x="1963068" y="25378"/>
                    <a:pt x="1968633" y="38814"/>
                    <a:pt x="1968633" y="52824"/>
                  </a:cubicBezTo>
                  <a:lnTo>
                    <a:pt x="1968633" y="461825"/>
                  </a:lnTo>
                  <a:cubicBezTo>
                    <a:pt x="1968633" y="490998"/>
                    <a:pt x="1944983" y="514648"/>
                    <a:pt x="1915809" y="514648"/>
                  </a:cubicBezTo>
                  <a:lnTo>
                    <a:pt x="52824" y="514648"/>
                  </a:lnTo>
                  <a:cubicBezTo>
                    <a:pt x="38814" y="514648"/>
                    <a:pt x="25378" y="509083"/>
                    <a:pt x="15472" y="499176"/>
                  </a:cubicBezTo>
                  <a:cubicBezTo>
                    <a:pt x="5565" y="489270"/>
                    <a:pt x="0" y="475834"/>
                    <a:pt x="0" y="461825"/>
                  </a:cubicBezTo>
                  <a:lnTo>
                    <a:pt x="0" y="52824"/>
                  </a:lnTo>
                  <a:cubicBezTo>
                    <a:pt x="0" y="38814"/>
                    <a:pt x="5565" y="25378"/>
                    <a:pt x="15472" y="15472"/>
                  </a:cubicBezTo>
                  <a:cubicBezTo>
                    <a:pt x="25378" y="5565"/>
                    <a:pt x="38814" y="0"/>
                    <a:pt x="52824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968633" cy="55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737584" y="8849600"/>
            <a:ext cx="1127238" cy="650546"/>
          </a:xfrm>
          <a:custGeom>
            <a:avLst/>
            <a:gdLst/>
            <a:ahLst/>
            <a:cxnLst/>
            <a:rect r="r" b="b" t="t" l="l"/>
            <a:pathLst>
              <a:path h="650546" w="1127238">
                <a:moveTo>
                  <a:pt x="0" y="0"/>
                </a:moveTo>
                <a:lnTo>
                  <a:pt x="1127238" y="0"/>
                </a:lnTo>
                <a:lnTo>
                  <a:pt x="1127238" y="650546"/>
                </a:lnTo>
                <a:lnTo>
                  <a:pt x="0" y="650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540739" y="3645249"/>
            <a:ext cx="5335201" cy="259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9"/>
              </a:lnSpc>
            </a:pPr>
            <a:r>
              <a:rPr lang="en-US" b="true" sz="7499" spc="14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MERCADO    META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48963" y="9023350"/>
            <a:ext cx="274310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MetaStudy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485373" y="1496748"/>
            <a:ext cx="6490794" cy="136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Estudiantes de preparatoria</a:t>
            </a:r>
          </a:p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Estudiantes de universidad</a:t>
            </a:r>
          </a:p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Jóvenes profesionistas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485373" y="4910253"/>
            <a:ext cx="6490794" cy="9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20"/>
              </a:lnSpc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Padres de familia interesados en contratar tutorías para sus hijos.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485373" y="7576185"/>
            <a:ext cx="6490794" cy="183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Afinidad con la tecnología</a:t>
            </a:r>
          </a:p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Aprendizaje en línea</a:t>
            </a:r>
          </a:p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Búsqueda de soluciones prácticas, confiables y personalizadas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54034" y="0"/>
            <a:ext cx="5833966" cy="10287000"/>
            <a:chOff x="0" y="0"/>
            <a:chExt cx="4609553" cy="812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9553" cy="8128000"/>
            </a:xfrm>
            <a:custGeom>
              <a:avLst/>
              <a:gdLst/>
              <a:ahLst/>
              <a:cxnLst/>
              <a:rect r="r" b="b" t="t" l="l"/>
              <a:pathLst>
                <a:path h="8128000" w="4609553">
                  <a:moveTo>
                    <a:pt x="0" y="0"/>
                  </a:moveTo>
                  <a:lnTo>
                    <a:pt x="4609553" y="0"/>
                  </a:lnTo>
                  <a:lnTo>
                    <a:pt x="4609553" y="8128000"/>
                  </a:lnTo>
                  <a:lnTo>
                    <a:pt x="0" y="81280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9553" cy="816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186049" y="6643833"/>
            <a:ext cx="16073251" cy="0"/>
          </a:xfrm>
          <a:prstGeom prst="line">
            <a:avLst/>
          </a:prstGeom>
          <a:ln cap="flat" w="47625">
            <a:solidFill>
              <a:srgbClr val="00000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9132094" y="3701960"/>
            <a:ext cx="23812" cy="5883745"/>
          </a:xfrm>
          <a:prstGeom prst="line">
            <a:avLst/>
          </a:prstGeom>
          <a:ln cap="flat" w="47625">
            <a:solidFill>
              <a:srgbClr val="00000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551064" y="1522485"/>
            <a:ext cx="1310100" cy="0"/>
          </a:xfrm>
          <a:prstGeom prst="line">
            <a:avLst/>
          </a:prstGeom>
          <a:ln cap="flat" w="95250">
            <a:solidFill>
              <a:srgbClr val="0345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33982" y="3701960"/>
            <a:ext cx="4316989" cy="669452"/>
            <a:chOff x="0" y="0"/>
            <a:chExt cx="2746403" cy="4258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46403" cy="425895"/>
            </a:xfrm>
            <a:custGeom>
              <a:avLst/>
              <a:gdLst/>
              <a:ahLst/>
              <a:cxnLst/>
              <a:rect r="r" b="b" t="t" l="l"/>
              <a:pathLst>
                <a:path h="425895" w="2746403">
                  <a:moveTo>
                    <a:pt x="2543203" y="0"/>
                  </a:moveTo>
                  <a:cubicBezTo>
                    <a:pt x="2655427" y="0"/>
                    <a:pt x="2746403" y="95340"/>
                    <a:pt x="2746403" y="212948"/>
                  </a:cubicBezTo>
                  <a:cubicBezTo>
                    <a:pt x="2746403" y="330556"/>
                    <a:pt x="2655427" y="425895"/>
                    <a:pt x="254320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746403" cy="473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Campañas Publicitarias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3982" y="6915295"/>
            <a:ext cx="4316989" cy="669452"/>
            <a:chOff x="0" y="0"/>
            <a:chExt cx="2746403" cy="4258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6403" cy="425895"/>
            </a:xfrm>
            <a:custGeom>
              <a:avLst/>
              <a:gdLst/>
              <a:ahLst/>
              <a:cxnLst/>
              <a:rect r="r" b="b" t="t" l="l"/>
              <a:pathLst>
                <a:path h="425895" w="2746403">
                  <a:moveTo>
                    <a:pt x="2543203" y="0"/>
                  </a:moveTo>
                  <a:cubicBezTo>
                    <a:pt x="2655427" y="0"/>
                    <a:pt x="2746403" y="95340"/>
                    <a:pt x="2746403" y="212948"/>
                  </a:cubicBezTo>
                  <a:cubicBezTo>
                    <a:pt x="2746403" y="330556"/>
                    <a:pt x="2655427" y="425895"/>
                    <a:pt x="254320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746403" cy="473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Colaboraciones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189810" y="3741611"/>
            <a:ext cx="4316989" cy="669452"/>
            <a:chOff x="0" y="0"/>
            <a:chExt cx="2746403" cy="4258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6403" cy="425895"/>
            </a:xfrm>
            <a:custGeom>
              <a:avLst/>
              <a:gdLst/>
              <a:ahLst/>
              <a:cxnLst/>
              <a:rect r="r" b="b" t="t" l="l"/>
              <a:pathLst>
                <a:path h="425895" w="2746403">
                  <a:moveTo>
                    <a:pt x="2543203" y="0"/>
                  </a:moveTo>
                  <a:cubicBezTo>
                    <a:pt x="2655427" y="0"/>
                    <a:pt x="2746403" y="95340"/>
                    <a:pt x="2746403" y="212948"/>
                  </a:cubicBezTo>
                  <a:cubicBezTo>
                    <a:pt x="2746403" y="330556"/>
                    <a:pt x="2655427" y="425895"/>
                    <a:pt x="254320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746403" cy="473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Contenido Visual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189810" y="6915295"/>
            <a:ext cx="4316989" cy="669452"/>
            <a:chOff x="0" y="0"/>
            <a:chExt cx="2746403" cy="4258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6403" cy="425895"/>
            </a:xfrm>
            <a:custGeom>
              <a:avLst/>
              <a:gdLst/>
              <a:ahLst/>
              <a:cxnLst/>
              <a:rect r="r" b="b" t="t" l="l"/>
              <a:pathLst>
                <a:path h="425895" w="2746403">
                  <a:moveTo>
                    <a:pt x="2543203" y="0"/>
                  </a:moveTo>
                  <a:cubicBezTo>
                    <a:pt x="2655427" y="0"/>
                    <a:pt x="2746403" y="95340"/>
                    <a:pt x="2746403" y="212948"/>
                  </a:cubicBezTo>
                  <a:cubicBezTo>
                    <a:pt x="2746403" y="330556"/>
                    <a:pt x="2655427" y="425895"/>
                    <a:pt x="254320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746403" cy="473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Programa de Referidos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12964" y="373134"/>
            <a:ext cx="10769833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PROMOCION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075849" y="612847"/>
            <a:ext cx="274310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MetaStudy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4529" y="4627237"/>
            <a:ext cx="7629377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Campañas segmentadas dirigidas a diferentes grupos de estudiantes y padres de familia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64529" y="3701960"/>
            <a:ext cx="669452" cy="66945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20357" y="3741611"/>
            <a:ext cx="669452" cy="66945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64529" y="6915295"/>
            <a:ext cx="669452" cy="669452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20357" y="6915295"/>
            <a:ext cx="669452" cy="669452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64529" y="7799847"/>
            <a:ext cx="7629377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Colaboraciones con comunidades educativas para ampliar el alcance.</a:t>
            </a:r>
          </a:p>
          <a:p>
            <a:pPr algn="just" marL="0" indent="0" lvl="0">
              <a:lnSpc>
                <a:spcPts val="360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9520357" y="4666887"/>
            <a:ext cx="7629377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Videos explicativos y publicaciones que muestren las ventajas de la plataforma.</a:t>
            </a:r>
          </a:p>
          <a:p>
            <a:pPr algn="just" marL="0" indent="0" lvl="0">
              <a:lnSpc>
                <a:spcPts val="3600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9520357" y="7799847"/>
            <a:ext cx="7629377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Programas de referidos para fomentar el crecimiento orgánico de la plataforma.</a:t>
            </a:r>
          </a:p>
          <a:p>
            <a:pPr algn="just" marL="0" indent="0" lvl="0">
              <a:lnSpc>
                <a:spcPts val="3600"/>
              </a:lnSpc>
            </a:pPr>
          </a:p>
        </p:txBody>
      </p:sp>
      <p:grpSp>
        <p:nvGrpSpPr>
          <p:cNvPr name="Group 38" id="38"/>
          <p:cNvGrpSpPr/>
          <p:nvPr/>
        </p:nvGrpSpPr>
        <p:grpSpPr>
          <a:xfrm rot="0">
            <a:off x="8709419" y="-2174505"/>
            <a:ext cx="3744615" cy="374461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763347" y="1741560"/>
            <a:ext cx="1155744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49"/>
              </a:lnSpc>
            </a:pPr>
            <a:r>
              <a:rPr lang="en-US" b="true" sz="24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Canales Principales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64529" y="2223326"/>
            <a:ext cx="1257051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49"/>
              </a:lnSpc>
            </a:pPr>
            <a:r>
              <a:rPr lang="en-US" sz="24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Redes sociales como Facebook, Instagram y X (Twitter) para generar presencia de marca.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4243779" y="468384"/>
            <a:ext cx="1127238" cy="650546"/>
          </a:xfrm>
          <a:custGeom>
            <a:avLst/>
            <a:gdLst/>
            <a:ahLst/>
            <a:cxnLst/>
            <a:rect r="r" b="b" t="t" l="l"/>
            <a:pathLst>
              <a:path h="650546" w="1127238">
                <a:moveTo>
                  <a:pt x="0" y="0"/>
                </a:moveTo>
                <a:lnTo>
                  <a:pt x="1127238" y="0"/>
                </a:lnTo>
                <a:lnTo>
                  <a:pt x="1127238" y="650546"/>
                </a:lnTo>
                <a:lnTo>
                  <a:pt x="0" y="65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368147" cy="1543194"/>
            <a:chOff x="0" y="0"/>
            <a:chExt cx="4574327" cy="406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74327" cy="406438"/>
            </a:xfrm>
            <a:custGeom>
              <a:avLst/>
              <a:gdLst/>
              <a:ahLst/>
              <a:cxnLst/>
              <a:rect r="r" b="b" t="t" l="l"/>
              <a:pathLst>
                <a:path h="406438" w="4574327">
                  <a:moveTo>
                    <a:pt x="0" y="0"/>
                  </a:moveTo>
                  <a:lnTo>
                    <a:pt x="4574327" y="0"/>
                  </a:lnTo>
                  <a:lnTo>
                    <a:pt x="4574327" y="406438"/>
                  </a:lnTo>
                  <a:lnTo>
                    <a:pt x="0" y="40643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74327" cy="444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516197" y="536647"/>
            <a:ext cx="274310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MetaStudy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698994" y="7487211"/>
            <a:ext cx="3987330" cy="398733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657717" y="429814"/>
            <a:ext cx="1127238" cy="650546"/>
          </a:xfrm>
          <a:custGeom>
            <a:avLst/>
            <a:gdLst/>
            <a:ahLst/>
            <a:cxnLst/>
            <a:rect r="r" b="b" t="t" l="l"/>
            <a:pathLst>
              <a:path h="650546" w="1127238">
                <a:moveTo>
                  <a:pt x="0" y="0"/>
                </a:moveTo>
                <a:lnTo>
                  <a:pt x="1127238" y="0"/>
                </a:lnTo>
                <a:lnTo>
                  <a:pt x="1127238" y="650546"/>
                </a:lnTo>
                <a:lnTo>
                  <a:pt x="0" y="65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69078" y="2436427"/>
            <a:ext cx="11301259" cy="6201566"/>
          </a:xfrm>
          <a:custGeom>
            <a:avLst/>
            <a:gdLst/>
            <a:ahLst/>
            <a:cxnLst/>
            <a:rect r="r" b="b" t="t" l="l"/>
            <a:pathLst>
              <a:path h="6201566" w="11301259">
                <a:moveTo>
                  <a:pt x="0" y="0"/>
                </a:moveTo>
                <a:lnTo>
                  <a:pt x="11301259" y="0"/>
                </a:lnTo>
                <a:lnTo>
                  <a:pt x="11301259" y="6201566"/>
                </a:lnTo>
                <a:lnTo>
                  <a:pt x="0" y="6201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203169" y="9014967"/>
            <a:ext cx="465909" cy="465909"/>
          </a:xfrm>
          <a:custGeom>
            <a:avLst/>
            <a:gdLst/>
            <a:ahLst/>
            <a:cxnLst/>
            <a:rect r="r" b="b" t="t" l="l"/>
            <a:pathLst>
              <a:path h="465909" w="465909">
                <a:moveTo>
                  <a:pt x="0" y="0"/>
                </a:moveTo>
                <a:lnTo>
                  <a:pt x="465909" y="0"/>
                </a:lnTo>
                <a:lnTo>
                  <a:pt x="465909" y="465909"/>
                </a:lnTo>
                <a:lnTo>
                  <a:pt x="0" y="4659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201335" y="9014967"/>
            <a:ext cx="464705" cy="464705"/>
          </a:xfrm>
          <a:custGeom>
            <a:avLst/>
            <a:gdLst/>
            <a:ahLst/>
            <a:cxnLst/>
            <a:rect r="r" b="b" t="t" l="l"/>
            <a:pathLst>
              <a:path h="464705" w="464705">
                <a:moveTo>
                  <a:pt x="0" y="0"/>
                </a:moveTo>
                <a:lnTo>
                  <a:pt x="464704" y="0"/>
                </a:lnTo>
                <a:lnTo>
                  <a:pt x="464704" y="464704"/>
                </a:lnTo>
                <a:lnTo>
                  <a:pt x="0" y="4647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199939" y="9014967"/>
            <a:ext cx="464705" cy="464705"/>
          </a:xfrm>
          <a:custGeom>
            <a:avLst/>
            <a:gdLst/>
            <a:ahLst/>
            <a:cxnLst/>
            <a:rect r="r" b="b" t="t" l="l"/>
            <a:pathLst>
              <a:path h="464705" w="464705">
                <a:moveTo>
                  <a:pt x="0" y="0"/>
                </a:moveTo>
                <a:lnTo>
                  <a:pt x="464705" y="0"/>
                </a:lnTo>
                <a:lnTo>
                  <a:pt x="464705" y="464704"/>
                </a:lnTo>
                <a:lnTo>
                  <a:pt x="0" y="4647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68951" y="296934"/>
            <a:ext cx="10769833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ESTRUCTURA DE LA INVERSION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2518" y="1754150"/>
            <a:ext cx="16163111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La inversión inicial se destinará a: desarrollo tecnológico (programación, diseño, servidores), marketing digital y gastos administrativos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63552" y="9040627"/>
            <a:ext cx="434330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Desarrollo de Software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2518" y="2838095"/>
            <a:ext cx="739971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División de Costos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61289" y="9051607"/>
            <a:ext cx="32039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Promoción y Publicidad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59894" y="9051607"/>
            <a:ext cx="411698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Mantenimiento Operativo y S...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227431"/>
            <a:chOff x="0" y="0"/>
            <a:chExt cx="4816593" cy="586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86648"/>
            </a:xfrm>
            <a:custGeom>
              <a:avLst/>
              <a:gdLst/>
              <a:ahLst/>
              <a:cxnLst/>
              <a:rect r="r" b="b" t="t" l="l"/>
              <a:pathLst>
                <a:path h="5866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86648"/>
                  </a:lnTo>
                  <a:lnTo>
                    <a:pt x="0" y="58664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624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9124950" y="501749"/>
            <a:ext cx="0" cy="141761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41788" y="387591"/>
            <a:ext cx="5743232" cy="1309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79"/>
              </a:lnSpc>
            </a:pPr>
            <a:r>
              <a:rPr lang="en-US" b="true" sz="7699" spc="15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TIR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99147" y="358874"/>
            <a:ext cx="5743232" cy="1309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79"/>
              </a:lnSpc>
            </a:pPr>
            <a:r>
              <a:rPr lang="en-US" b="true" sz="7699" spc="15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B/C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1628945" y="2763811"/>
            <a:ext cx="3491032" cy="349103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72634" y="2780838"/>
            <a:ext cx="6465022" cy="6465022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811386" y="4831763"/>
            <a:ext cx="5743232" cy="186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59"/>
              </a:lnSpc>
            </a:pPr>
            <a:r>
              <a:rPr lang="en-US" b="true" sz="10899">
                <a:solidFill>
                  <a:srgbClr val="0345E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62.20%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107820" y="6880330"/>
            <a:ext cx="5617395" cy="561739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816108" y="2780838"/>
            <a:ext cx="6465022" cy="6465022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177004" y="5014055"/>
            <a:ext cx="5743232" cy="186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59"/>
              </a:lnSpc>
            </a:pPr>
            <a:r>
              <a:rPr lang="en-US" b="true" sz="10899">
                <a:solidFill>
                  <a:srgbClr val="0345E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1.12%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1842469" y="0"/>
            <a:ext cx="5416831" cy="12022429"/>
            <a:chOff x="0" y="0"/>
            <a:chExt cx="2858770" cy="6344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87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285877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2"/>
              <a:stretch>
                <a:fillRect l="-23922" t="0" r="-2392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7109187"/>
            <a:ext cx="1028700" cy="3177813"/>
            <a:chOff x="0" y="0"/>
            <a:chExt cx="812800" cy="25108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510865"/>
            </a:xfrm>
            <a:custGeom>
              <a:avLst/>
              <a:gdLst/>
              <a:ahLst/>
              <a:cxnLst/>
              <a:rect r="r" b="b" t="t" l="l"/>
              <a:pathLst>
                <a:path h="251086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7109187"/>
            <a:ext cx="11842469" cy="3177813"/>
            <a:chOff x="0" y="0"/>
            <a:chExt cx="9357013" cy="2510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57013" cy="2510865"/>
            </a:xfrm>
            <a:custGeom>
              <a:avLst/>
              <a:gdLst/>
              <a:ahLst/>
              <a:cxnLst/>
              <a:rect r="r" b="b" t="t" l="l"/>
              <a:pathLst>
                <a:path h="2510865" w="9357013">
                  <a:moveTo>
                    <a:pt x="0" y="0"/>
                  </a:moveTo>
                  <a:lnTo>
                    <a:pt x="9357013" y="0"/>
                  </a:lnTo>
                  <a:lnTo>
                    <a:pt x="9357013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357013" cy="2548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259300" y="0"/>
            <a:ext cx="1028700" cy="10287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609914" y="0"/>
            <a:ext cx="1694792" cy="10287000"/>
            <a:chOff x="0" y="0"/>
            <a:chExt cx="446365" cy="27093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63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24423" y="5465412"/>
            <a:ext cx="4176257" cy="545802"/>
            <a:chOff x="0" y="0"/>
            <a:chExt cx="1099919" cy="143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9919" cy="143750"/>
            </a:xfrm>
            <a:custGeom>
              <a:avLst/>
              <a:gdLst/>
              <a:ahLst/>
              <a:cxnLst/>
              <a:rect r="r" b="b" t="t" l="l"/>
              <a:pathLst>
                <a:path h="143750" w="1099919">
                  <a:moveTo>
                    <a:pt x="71875" y="0"/>
                  </a:moveTo>
                  <a:lnTo>
                    <a:pt x="1028044" y="0"/>
                  </a:lnTo>
                  <a:cubicBezTo>
                    <a:pt x="1067740" y="0"/>
                    <a:pt x="1099919" y="32180"/>
                    <a:pt x="1099919" y="71875"/>
                  </a:cubicBezTo>
                  <a:lnTo>
                    <a:pt x="1099919" y="71875"/>
                  </a:lnTo>
                  <a:cubicBezTo>
                    <a:pt x="1099919" y="90938"/>
                    <a:pt x="1092347" y="109219"/>
                    <a:pt x="1078868" y="122699"/>
                  </a:cubicBezTo>
                  <a:cubicBezTo>
                    <a:pt x="1065389" y="136178"/>
                    <a:pt x="1047107" y="143750"/>
                    <a:pt x="1028044" y="143750"/>
                  </a:cubicBezTo>
                  <a:lnTo>
                    <a:pt x="71875" y="143750"/>
                  </a:lnTo>
                  <a:cubicBezTo>
                    <a:pt x="52813" y="143750"/>
                    <a:pt x="34531" y="136178"/>
                    <a:pt x="21052" y="122699"/>
                  </a:cubicBezTo>
                  <a:cubicBezTo>
                    <a:pt x="7573" y="109219"/>
                    <a:pt x="0" y="90938"/>
                    <a:pt x="0" y="71875"/>
                  </a:cubicBezTo>
                  <a:lnTo>
                    <a:pt x="0" y="71875"/>
                  </a:lnTo>
                  <a:cubicBezTo>
                    <a:pt x="0" y="52813"/>
                    <a:pt x="7573" y="34531"/>
                    <a:pt x="21052" y="21052"/>
                  </a:cubicBezTo>
                  <a:cubicBezTo>
                    <a:pt x="34531" y="7573"/>
                    <a:pt x="52813" y="0"/>
                    <a:pt x="71875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099919" cy="17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Noviembre 2025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53887" y="786854"/>
            <a:ext cx="1977164" cy="197716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356760" y="793750"/>
            <a:ext cx="3191396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MetaStudy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4423" y="8133422"/>
            <a:ext cx="488488" cy="488488"/>
          </a:xfrm>
          <a:custGeom>
            <a:avLst/>
            <a:gdLst/>
            <a:ahLst/>
            <a:cxnLst/>
            <a:rect r="r" b="b" t="t" l="l"/>
            <a:pathLst>
              <a:path h="488488" w="488488">
                <a:moveTo>
                  <a:pt x="0" y="0"/>
                </a:moveTo>
                <a:lnTo>
                  <a:pt x="488488" y="0"/>
                </a:lnTo>
                <a:lnTo>
                  <a:pt x="488488" y="488488"/>
                </a:lnTo>
                <a:lnTo>
                  <a:pt x="0" y="48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4423" y="8769812"/>
            <a:ext cx="488488" cy="488488"/>
          </a:xfrm>
          <a:custGeom>
            <a:avLst/>
            <a:gdLst/>
            <a:ahLst/>
            <a:cxnLst/>
            <a:rect r="r" b="b" t="t" l="l"/>
            <a:pathLst>
              <a:path h="488488" w="488488">
                <a:moveTo>
                  <a:pt x="0" y="0"/>
                </a:moveTo>
                <a:lnTo>
                  <a:pt x="488488" y="0"/>
                </a:lnTo>
                <a:lnTo>
                  <a:pt x="488488" y="488488"/>
                </a:lnTo>
                <a:lnTo>
                  <a:pt x="0" y="4884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8484493" y="9014056"/>
            <a:ext cx="2545888" cy="2545888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549292" y="686917"/>
            <a:ext cx="1127238" cy="650546"/>
          </a:xfrm>
          <a:custGeom>
            <a:avLst/>
            <a:gdLst/>
            <a:ahLst/>
            <a:cxnLst/>
            <a:rect r="r" b="b" t="t" l="l"/>
            <a:pathLst>
              <a:path h="650546" w="1127238">
                <a:moveTo>
                  <a:pt x="0" y="0"/>
                </a:moveTo>
                <a:lnTo>
                  <a:pt x="1127239" y="0"/>
                </a:lnTo>
                <a:lnTo>
                  <a:pt x="1127239" y="650546"/>
                </a:lnTo>
                <a:lnTo>
                  <a:pt x="0" y="6505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653503" y="4648200"/>
            <a:ext cx="876656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POR SU ATENCION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93629" y="8159226"/>
            <a:ext cx="510254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MetaStudy@gmail.com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93629" y="8795616"/>
            <a:ext cx="510254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www.metastudy.com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24423" y="3135538"/>
            <a:ext cx="8795646" cy="152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60"/>
              </a:lnSpc>
            </a:pPr>
            <a:r>
              <a:rPr lang="en-US" sz="104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DAG3w-HhMDk</dc:identifier>
  <dcterms:modified xsi:type="dcterms:W3CDTF">2011-08-01T06:04:30Z</dcterms:modified>
  <cp:revision>1</cp:revision>
  <dc:title>White Blue Simple Modern Business Proposal Pitch Deck Presentation Design</dc:title>
</cp:coreProperties>
</file>